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3" r:id="rId9"/>
    <p:sldId id="266" r:id="rId10"/>
    <p:sldId id="264" r:id="rId11"/>
    <p:sldId id="265" r:id="rId12"/>
    <p:sldId id="259" r:id="rId13"/>
    <p:sldId id="261" r:id="rId14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2EC0E-3A60-4B0B-A9BF-3CB2279CC864}" v="28" dt="2025-05-22T21:51:34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ta Costa" userId="c96d403436fc1ebf" providerId="LiveId" clId="{3DA2EC0E-3A60-4B0B-A9BF-3CB2279CC864}"/>
    <pc:docChg chg="undo custSel addSld modSld">
      <pc:chgData name="Renata Costa" userId="c96d403436fc1ebf" providerId="LiveId" clId="{3DA2EC0E-3A60-4B0B-A9BF-3CB2279CC864}" dt="2025-05-22T21:53:12.556" v="415" actId="6549"/>
      <pc:docMkLst>
        <pc:docMk/>
      </pc:docMkLst>
      <pc:sldChg chg="modSp mod">
        <pc:chgData name="Renata Costa" userId="c96d403436fc1ebf" providerId="LiveId" clId="{3DA2EC0E-3A60-4B0B-A9BF-3CB2279CC864}" dt="2025-05-22T21:53:12.556" v="415" actId="6549"/>
        <pc:sldMkLst>
          <pc:docMk/>
          <pc:sldMk cId="0" sldId="257"/>
        </pc:sldMkLst>
        <pc:spChg chg="mod">
          <ac:chgData name="Renata Costa" userId="c96d403436fc1ebf" providerId="LiveId" clId="{3DA2EC0E-3A60-4B0B-A9BF-3CB2279CC864}" dt="2025-05-22T21:43:01.032" v="3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Renata Costa" userId="c96d403436fc1ebf" providerId="LiveId" clId="{3DA2EC0E-3A60-4B0B-A9BF-3CB2279CC864}" dt="2025-05-22T21:53:12.556" v="415" actId="6549"/>
          <ac:spMkLst>
            <pc:docMk/>
            <pc:sldMk cId="0" sldId="257"/>
            <ac:spMk id="8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3:06.429" v="16" actId="20577"/>
          <ac:spMkLst>
            <pc:docMk/>
            <pc:sldMk cId="0" sldId="257"/>
            <ac:spMk id="9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9:05.696" v="206" actId="20577"/>
          <ac:spMkLst>
            <pc:docMk/>
            <pc:sldMk cId="0" sldId="257"/>
            <ac:spMk id="10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50:19.630" v="298" actId="20577"/>
          <ac:spMkLst>
            <pc:docMk/>
            <pc:sldMk cId="0" sldId="257"/>
            <ac:spMk id="3076" creationId="{2153AA99-8F89-44F6-89BE-50ADB104D03D}"/>
          </ac:spMkLst>
        </pc:spChg>
      </pc:sldChg>
      <pc:sldChg chg="addSp modSp mod modCm">
        <pc:chgData name="Renata Costa" userId="c96d403436fc1ebf" providerId="LiveId" clId="{3DA2EC0E-3A60-4B0B-A9BF-3CB2279CC864}" dt="2025-05-22T21:51:12.414" v="346"/>
        <pc:sldMkLst>
          <pc:docMk/>
          <pc:sldMk cId="0" sldId="258"/>
        </pc:sldMkLst>
        <pc:spChg chg="mod">
          <ac:chgData name="Renata Costa" userId="c96d403436fc1ebf" providerId="LiveId" clId="{3DA2EC0E-3A60-4B0B-A9BF-3CB2279CC864}" dt="2025-05-22T21:50:59.816" v="344" actId="6549"/>
          <ac:spMkLst>
            <pc:docMk/>
            <pc:sldMk cId="0" sldId="258"/>
            <ac:spMk id="4100" creationId="{D09F245C-E224-40FB-B22C-C18326684718}"/>
          </ac:spMkLst>
        </pc:spChg>
        <pc:picChg chg="add mod">
          <ac:chgData name="Renata Costa" userId="c96d403436fc1ebf" providerId="LiveId" clId="{3DA2EC0E-3A60-4B0B-A9BF-3CB2279CC864}" dt="2025-05-22T21:51:12.414" v="346"/>
          <ac:picMkLst>
            <pc:docMk/>
            <pc:sldMk cId="0" sldId="258"/>
            <ac:picMk id="2" creationId="{825EFEA0-FEEF-25D4-44D2-3DE30B5CE709}"/>
          </ac:picMkLst>
        </pc:picChg>
      </pc:sldChg>
      <pc:sldChg chg="addSp delSp modSp mod modCm">
        <pc:chgData name="Renata Costa" userId="c96d403436fc1ebf" providerId="LiveId" clId="{3DA2EC0E-3A60-4B0B-A9BF-3CB2279CC864}" dt="2025-05-22T21:45:25.345" v="64"/>
        <pc:sldMkLst>
          <pc:docMk/>
          <pc:sldMk cId="1004270343" sldId="262"/>
        </pc:sldMkLst>
        <pc:spChg chg="add mod">
          <ac:chgData name="Renata Costa" userId="c96d403436fc1ebf" providerId="LiveId" clId="{3DA2EC0E-3A60-4B0B-A9BF-3CB2279CC864}" dt="2025-05-22T21:45:09.967" v="63" actId="1076"/>
          <ac:spMkLst>
            <pc:docMk/>
            <pc:sldMk cId="1004270343" sldId="262"/>
            <ac:spMk id="2" creationId="{3C6B2C7A-E59D-5A67-500D-5262D5121C16}"/>
          </ac:spMkLst>
        </pc:spChg>
        <pc:spChg chg="del mod">
          <ac:chgData name="Renata Costa" userId="c96d403436fc1ebf" providerId="LiveId" clId="{3DA2EC0E-3A60-4B0B-A9BF-3CB2279CC864}" dt="2025-05-22T21:44:09.667" v="42" actId="478"/>
          <ac:spMkLst>
            <pc:docMk/>
            <pc:sldMk cId="1004270343" sldId="262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4:23.530" v="48" actId="1076"/>
          <ac:picMkLst>
            <pc:docMk/>
            <pc:sldMk cId="1004270343" sldId="262"/>
            <ac:picMk id="4099" creationId="{A9EB0ED6-083B-4BFA-9C57-A71D9212A144}"/>
          </ac:picMkLst>
        </pc:picChg>
      </pc:sldChg>
      <pc:sldChg chg="addSp delSp modSp mod">
        <pc:chgData name="Renata Costa" userId="c96d403436fc1ebf" providerId="LiveId" clId="{3DA2EC0E-3A60-4B0B-A9BF-3CB2279CC864}" dt="2025-05-22T21:46:19.352" v="113"/>
        <pc:sldMkLst>
          <pc:docMk/>
          <pc:sldMk cId="2149392476" sldId="263"/>
        </pc:sldMkLst>
        <pc:spChg chg="add del">
          <ac:chgData name="Renata Costa" userId="c96d403436fc1ebf" providerId="LiveId" clId="{3DA2EC0E-3A60-4B0B-A9BF-3CB2279CC864}" dt="2025-05-22T21:45:36.266" v="67" actId="22"/>
          <ac:spMkLst>
            <pc:docMk/>
            <pc:sldMk cId="2149392476" sldId="263"/>
            <ac:spMk id="3" creationId="{B6818BE9-28B0-787C-3CFD-F8A72C475623}"/>
          </ac:spMkLst>
        </pc:spChg>
        <pc:spChg chg="add mod">
          <ac:chgData name="Renata Costa" userId="c96d403436fc1ebf" providerId="LiveId" clId="{3DA2EC0E-3A60-4B0B-A9BF-3CB2279CC864}" dt="2025-05-22T21:46:19.352" v="113"/>
          <ac:spMkLst>
            <pc:docMk/>
            <pc:sldMk cId="2149392476" sldId="263"/>
            <ac:spMk id="4" creationId="{01DEED65-4293-70B7-FE9D-9EBEBFE6AC1C}"/>
          </ac:spMkLst>
        </pc:spChg>
        <pc:spChg chg="del">
          <ac:chgData name="Renata Costa" userId="c96d403436fc1ebf" providerId="LiveId" clId="{3DA2EC0E-3A60-4B0B-A9BF-3CB2279CC864}" dt="2025-05-22T21:45:32.597" v="65" actId="478"/>
          <ac:spMkLst>
            <pc:docMk/>
            <pc:sldMk cId="2149392476" sldId="263"/>
            <ac:spMk id="4100" creationId="{D09F245C-E224-40FB-B22C-C18326684718}"/>
          </ac:spMkLst>
        </pc:spChg>
      </pc:sldChg>
      <pc:sldChg chg="addSp delSp modSp modCm">
        <pc:chgData name="Renata Costa" userId="c96d403436fc1ebf" providerId="LiveId" clId="{3DA2EC0E-3A60-4B0B-A9BF-3CB2279CC864}" dt="2025-05-22T21:47:32.530" v="122"/>
        <pc:sldMkLst>
          <pc:docMk/>
          <pc:sldMk cId="3575197018" sldId="264"/>
        </pc:sldMkLst>
        <pc:spChg chg="add mod">
          <ac:chgData name="Renata Costa" userId="c96d403436fc1ebf" providerId="LiveId" clId="{3DA2EC0E-3A60-4B0B-A9BF-3CB2279CC864}" dt="2025-05-22T21:47:09.085" v="121" actId="1076"/>
          <ac:spMkLst>
            <pc:docMk/>
            <pc:sldMk cId="3575197018" sldId="264"/>
            <ac:spMk id="2" creationId="{3BAA0655-280C-904A-F03E-0947DA860559}"/>
          </ac:spMkLst>
        </pc:spChg>
        <pc:spChg chg="del">
          <ac:chgData name="Renata Costa" userId="c96d403436fc1ebf" providerId="LiveId" clId="{3DA2EC0E-3A60-4B0B-A9BF-3CB2279CC864}" dt="2025-05-22T21:46:50.602" v="116" actId="478"/>
          <ac:spMkLst>
            <pc:docMk/>
            <pc:sldMk cId="3575197018" sldId="264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6:57.392" v="119" actId="1076"/>
          <ac:picMkLst>
            <pc:docMk/>
            <pc:sldMk cId="3575197018" sldId="264"/>
            <ac:picMk id="9" creationId="{A9EB0ED6-083B-4BFA-9C57-A71D9212A144}"/>
          </ac:picMkLst>
        </pc:picChg>
      </pc:sldChg>
      <pc:sldChg chg="delSp modSp mod modCm">
        <pc:chgData name="Renata Costa" userId="c96d403436fc1ebf" providerId="LiveId" clId="{3DA2EC0E-3A60-4B0B-A9BF-3CB2279CC864}" dt="2025-05-22T21:48:42.792" v="204" actId="6549"/>
        <pc:sldMkLst>
          <pc:docMk/>
          <pc:sldMk cId="1283984288" sldId="265"/>
        </pc:sldMkLst>
        <pc:spChg chg="mod">
          <ac:chgData name="Renata Costa" userId="c96d403436fc1ebf" providerId="LiveId" clId="{3DA2EC0E-3A60-4B0B-A9BF-3CB2279CC864}" dt="2025-05-22T21:48:42.792" v="204" actId="6549"/>
          <ac:spMkLst>
            <pc:docMk/>
            <pc:sldMk cId="1283984288" sldId="265"/>
            <ac:spMk id="4100" creationId="{D09F245C-E224-40FB-B22C-C18326684718}"/>
          </ac:spMkLst>
        </pc:spChg>
        <pc:picChg chg="del">
          <ac:chgData name="Renata Costa" userId="c96d403436fc1ebf" providerId="LiveId" clId="{3DA2EC0E-3A60-4B0B-A9BF-3CB2279CC864}" dt="2025-05-22T21:47:39.309" v="123" actId="478"/>
          <ac:picMkLst>
            <pc:docMk/>
            <pc:sldMk cId="1283984288" sldId="265"/>
            <ac:picMk id="10" creationId="{00000000-0000-0000-0000-000000000000}"/>
          </ac:picMkLst>
        </pc:picChg>
      </pc:sldChg>
      <pc:sldChg chg="addSp delSp modSp">
        <pc:chgData name="Renata Costa" userId="c96d403436fc1ebf" providerId="LiveId" clId="{3DA2EC0E-3A60-4B0B-A9BF-3CB2279CC864}" dt="2025-05-22T21:46:32.570" v="115"/>
        <pc:sldMkLst>
          <pc:docMk/>
          <pc:sldMk cId="3472418953" sldId="266"/>
        </pc:sldMkLst>
        <pc:spChg chg="add mod">
          <ac:chgData name="Renata Costa" userId="c96d403436fc1ebf" providerId="LiveId" clId="{3DA2EC0E-3A60-4B0B-A9BF-3CB2279CC864}" dt="2025-05-22T21:46:32.570" v="115"/>
          <ac:spMkLst>
            <pc:docMk/>
            <pc:sldMk cId="3472418953" sldId="266"/>
            <ac:spMk id="2" creationId="{BF27EDCF-BF92-8A03-B585-1969DD1D7166}"/>
          </ac:spMkLst>
        </pc:spChg>
        <pc:spChg chg="del">
          <ac:chgData name="Renata Costa" userId="c96d403436fc1ebf" providerId="LiveId" clId="{3DA2EC0E-3A60-4B0B-A9BF-3CB2279CC864}" dt="2025-05-22T21:46:31.642" v="114" actId="478"/>
          <ac:spMkLst>
            <pc:docMk/>
            <pc:sldMk cId="3472418953" sldId="266"/>
            <ac:spMk id="4100" creationId="{D09F245C-E224-40FB-B22C-C18326684718}"/>
          </ac:spMkLst>
        </pc:spChg>
      </pc:sldChg>
      <pc:sldChg chg="modSp add mod">
        <pc:chgData name="Renata Costa" userId="c96d403436fc1ebf" providerId="LiveId" clId="{3DA2EC0E-3A60-4B0B-A9BF-3CB2279CC864}" dt="2025-05-22T21:51:50.364" v="384" actId="20577"/>
        <pc:sldMkLst>
          <pc:docMk/>
          <pc:sldMk cId="2028430281" sldId="267"/>
        </pc:sldMkLst>
        <pc:spChg chg="mod">
          <ac:chgData name="Renata Costa" userId="c96d403436fc1ebf" providerId="LiveId" clId="{3DA2EC0E-3A60-4B0B-A9BF-3CB2279CC864}" dt="2025-05-22T21:51:50.364" v="384" actId="20577"/>
          <ac:spMkLst>
            <pc:docMk/>
            <pc:sldMk cId="2028430281" sldId="267"/>
            <ac:spMk id="4100" creationId="{55F3FA2C-B60D-0465-6983-3F4AE419EBED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6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7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06/10/2026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06/10/2026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06/10/2026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06/10/2026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06/10/2026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06/10/2026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25" y="2837626"/>
            <a:ext cx="4262438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8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Impacto socioambiental da infraestrutura dos data centers</a:t>
            </a:r>
          </a:p>
          <a:p>
            <a:pPr algn="ctr">
              <a:spcBef>
                <a:spcPct val="50000"/>
              </a:spcBef>
              <a:buNone/>
            </a:pPr>
            <a:endParaRPr sz="1800" b="1" dirty="0">
              <a:solidFill>
                <a:srgbClr val="153553"/>
              </a:solidFill>
              <a:latin typeface="Verdana"/>
            </a:endParaRP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2237462"/>
            <a:ext cx="3234906" cy="1661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spcAft>
                <a:spcPts val="100"/>
              </a:spcAft>
              <a:buNone/>
            </a:pPr>
            <a:r>
              <a:rPr sz="1050" b="1">
                <a:solidFill>
                  <a:srgbClr val="153553"/>
                </a:solidFill>
                <a:latin typeface="Verdana"/>
              </a:rPr>
              <a:t>Profa. Isabella Luiza dos Santos Souza,
Especialista</a:t>
            </a:r>
          </a:p>
          <a:p>
            <a:pPr>
              <a:spcAft>
                <a:spcPts val="100"/>
              </a:spcAft>
              <a:buNone/>
            </a:pPr>
            <a:endParaRPr sz="1050" b="1">
              <a:solidFill>
                <a:srgbClr val="153553"/>
              </a:solidFill>
              <a:latin typeface="Verdana"/>
            </a:endParaRPr>
          </a:p>
          <a:p>
            <a:pPr>
              <a:spcAft>
                <a:spcPts val="100"/>
              </a:spcAft>
              <a:buNone/>
            </a:pPr>
            <a:r>
              <a:rPr sz="1050" b="0">
                <a:solidFill>
                  <a:srgbClr val="153553"/>
                </a:solidFill>
                <a:latin typeface="Verdana"/>
              </a:rPr>
              <a:t>Carlos Eduardo de Santanna Filho</a:t>
            </a:r>
          </a:p>
          <a:p>
            <a:pPr>
              <a:spcAft>
                <a:spcPts val="100"/>
              </a:spcAft>
              <a:buNone/>
            </a:pPr>
            <a:r>
              <a:rPr sz="1050" b="0">
                <a:solidFill>
                  <a:srgbClr val="153553"/>
                </a:solidFill>
                <a:latin typeface="Verdana"/>
              </a:rPr>
              <a:t>Felipe Oliveira Nascimento</a:t>
            </a:r>
          </a:p>
          <a:p>
            <a:pPr>
              <a:spcAft>
                <a:spcPts val="100"/>
              </a:spcAft>
              <a:buNone/>
            </a:pPr>
            <a:r>
              <a:rPr sz="1050" b="0">
                <a:solidFill>
                  <a:srgbClr val="153553"/>
                </a:solidFill>
                <a:latin typeface="Verdana"/>
              </a:rPr>
              <a:t>Júlio Nascimento Watanabe</a:t>
            </a:r>
          </a:p>
          <a:p>
            <a:pPr>
              <a:spcAft>
                <a:spcPts val="100"/>
              </a:spcAft>
              <a:buNone/>
            </a:pPr>
            <a:r>
              <a:rPr sz="1050" b="0">
                <a:solidFill>
                  <a:srgbClr val="153553"/>
                </a:solidFill>
                <a:latin typeface="Verdana"/>
              </a:rPr>
              <a:t>Pedro Henrique Mello Rodrigues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3285" y="6026521"/>
            <a:ext cx="30451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  <a:buNone/>
            </a:pPr>
            <a:r>
              <a:rPr sz="1200" b="1">
                <a:solidFill>
                  <a:srgbClr val="FFFFFF"/>
                </a:solidFill>
                <a:latin typeface="Verdana"/>
              </a:rPr>
              <a:t>CIÊNCIA DA COMPUTAÇÃO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9" y="3658781"/>
            <a:ext cx="3909907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  <a:buNone/>
            </a:pPr>
            <a:r>
              <a:rPr sz="1050" b="1" dirty="0">
                <a:solidFill>
                  <a:srgbClr val="FF0000"/>
                </a:solidFill>
                <a:latin typeface="Verdana"/>
              </a:rPr>
              <a:t>Data centers • </a:t>
            </a:r>
            <a:r>
              <a:rPr sz="1050" b="1" dirty="0" err="1">
                <a:solidFill>
                  <a:srgbClr val="FF0000"/>
                </a:solidFill>
                <a:latin typeface="Verdana"/>
              </a:rPr>
              <a:t>Meio</a:t>
            </a:r>
            <a:r>
              <a:rPr sz="1050" b="1" dirty="0">
                <a:solidFill>
                  <a:srgbClr val="FF0000"/>
                </a:solidFill>
                <a:latin typeface="Verdana"/>
              </a:rPr>
              <a:t> </a:t>
            </a:r>
            <a:r>
              <a:rPr sz="1050" b="1" dirty="0" err="1">
                <a:solidFill>
                  <a:srgbClr val="FF0000"/>
                </a:solidFill>
                <a:latin typeface="Verdana"/>
              </a:rPr>
              <a:t>ambiente</a:t>
            </a:r>
            <a:r>
              <a:rPr sz="1050" b="1" dirty="0">
                <a:solidFill>
                  <a:srgbClr val="FF0000"/>
                </a:solidFill>
                <a:latin typeface="Verdana"/>
              </a:rPr>
              <a:t> •</a:t>
            </a:r>
            <a:r>
              <a:rPr lang="pt-BR" sz="1050" b="1" dirty="0">
                <a:solidFill>
                  <a:srgbClr val="FF0000"/>
                </a:solidFill>
                <a:latin typeface="Verdana"/>
              </a:rPr>
              <a:t> </a:t>
            </a:r>
            <a:r>
              <a:rPr sz="1050" b="1" dirty="0">
                <a:solidFill>
                  <a:srgbClr val="FF0000"/>
                </a:solidFill>
                <a:latin typeface="Verdana"/>
              </a:rPr>
              <a:t> </a:t>
            </a:r>
            <a:r>
              <a:rPr sz="1050" b="1" dirty="0" err="1">
                <a:solidFill>
                  <a:srgbClr val="FF0000"/>
                </a:solidFill>
                <a:latin typeface="Verdana"/>
              </a:rPr>
              <a:t>Ecocídio</a:t>
            </a:r>
            <a:endParaRPr sz="1050" b="1" dirty="0">
              <a:solidFill>
                <a:srgbClr val="FF0000"/>
              </a:solidFill>
              <a:latin typeface="Verdana"/>
            </a:endParaRP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215847" y="5254109"/>
            <a:ext cx="10855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sz="1500" b="1">
                <a:solidFill>
                  <a:srgbClr val="153553"/>
                </a:solidFill>
                <a:latin typeface="Verdana"/>
              </a:rPr>
              <a:t>2026.2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spcAft>
                <a:spcPts val="300"/>
              </a:spcAft>
              <a:buNone/>
            </a:pPr>
            <a:r>
              <a:rPr sz="1350" b="1" i="0">
                <a:solidFill>
                  <a:srgbClr val="000000"/>
                </a:solidFill>
                <a:latin typeface="Verdana"/>
              </a:rPr>
              <a:t>PROBLEMÁTICA</a:t>
            </a:r>
          </a:p>
          <a:p>
            <a:pPr>
              <a:spcAft>
                <a:spcPts val="200"/>
              </a:spcAft>
              <a:buFont typeface="Arial"/>
              <a:buChar char="✓"/>
            </a:pPr>
            <a:r>
              <a:rPr sz="1230" b="0" i="0">
                <a:solidFill>
                  <a:srgbClr val="000000"/>
                </a:solidFill>
                <a:latin typeface="Verdana"/>
              </a:rPr>
              <a:t>Crescimento da IA aumenta a demanda por data centers, água e energia.</a:t>
            </a:r>
          </a:p>
          <a:p>
            <a:pPr>
              <a:spcAft>
                <a:spcPts val="200"/>
              </a:spcAft>
              <a:buFont typeface="Arial"/>
              <a:buChar char="✓"/>
            </a:pPr>
            <a:r>
              <a:rPr sz="1230" b="0" i="0">
                <a:solidFill>
                  <a:srgbClr val="000000"/>
                </a:solidFill>
                <a:latin typeface="Verdana"/>
              </a:rPr>
              <a:t>Regiões brasileiras já enfrentam escassez hídrica e limitações de infraestrutura.</a:t>
            </a:r>
          </a:p>
          <a:p>
            <a:pPr>
              <a:spcAft>
                <a:spcPts val="600"/>
              </a:spcAft>
              <a:buFont typeface="Arial"/>
              <a:buChar char="✓"/>
            </a:pPr>
            <a:r>
              <a:rPr sz="1230" b="0" i="0">
                <a:solidFill>
                  <a:srgbClr val="000000"/>
                </a:solidFill>
                <a:latin typeface="Verdana"/>
              </a:rPr>
              <a:t>Falta de regras específicas amplia riscos ambientais e conflitos pelo uso dos recursos.</a:t>
            </a:r>
          </a:p>
          <a:p>
            <a:pPr>
              <a:spcAft>
                <a:spcPts val="300"/>
              </a:spcAft>
              <a:buNone/>
            </a:pPr>
            <a:r>
              <a:rPr sz="1350" b="1" i="0">
                <a:solidFill>
                  <a:srgbClr val="000000"/>
                </a:solidFill>
                <a:latin typeface="Verdana"/>
              </a:rPr>
              <a:t>JUSTIFICATIVA</a:t>
            </a:r>
          </a:p>
          <a:p>
            <a:pPr>
              <a:spcAft>
                <a:spcPts val="200"/>
              </a:spcAft>
              <a:buFont typeface="Arial"/>
              <a:buChar char="✓"/>
            </a:pPr>
            <a:r>
              <a:rPr sz="1230" b="0" i="0">
                <a:solidFill>
                  <a:srgbClr val="000000"/>
                </a:solidFill>
                <a:latin typeface="Verdana"/>
              </a:rPr>
              <a:t>O Brasil é atrativo por energia renovável, cabos submarinos e mercado consumidor.</a:t>
            </a:r>
          </a:p>
          <a:p>
            <a:pPr>
              <a:spcAft>
                <a:spcPts val="200"/>
              </a:spcAft>
              <a:buFont typeface="Arial"/>
              <a:buChar char="✓"/>
            </a:pPr>
            <a:r>
              <a:rPr sz="1230" b="0" i="0">
                <a:solidFill>
                  <a:srgbClr val="000000"/>
                </a:solidFill>
                <a:latin typeface="Verdana"/>
              </a:rPr>
              <a:t>Os impactos podem atingir abastecimento de água, energia, ecossistemas e soberania digital.</a:t>
            </a:r>
          </a:p>
          <a:p>
            <a:pPr>
              <a:spcAft>
                <a:spcPts val="200"/>
              </a:spcAft>
              <a:buFont typeface="Arial"/>
              <a:buChar char="✓"/>
            </a:pPr>
            <a:r>
              <a:rPr sz="1230" b="0" i="0">
                <a:solidFill>
                  <a:srgbClr val="000000"/>
                </a:solidFill>
                <a:latin typeface="Verdana"/>
              </a:rPr>
              <a:t>É necessário planejar a expansão para que o avanço tecnológico não se torne um risco socioambiental.</a:t>
            </a: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spcAft>
                <a:spcPts val="300"/>
              </a:spcAft>
              <a:buNone/>
            </a:pPr>
            <a:r>
              <a:rPr sz="1350" b="1" i="0" dirty="0">
                <a:solidFill>
                  <a:srgbClr val="000000"/>
                </a:solidFill>
                <a:latin typeface="Verdana"/>
              </a:rPr>
              <a:t>OBJETIVO GERAL</a:t>
            </a:r>
          </a:p>
          <a:p>
            <a:pPr>
              <a:spcAft>
                <a:spcPts val="700"/>
              </a:spcAft>
              <a:buFont typeface="Arial"/>
              <a:buChar char="✓"/>
            </a:pPr>
            <a:r>
              <a:rPr sz="1220" b="0" i="0" dirty="0" err="1">
                <a:solidFill>
                  <a:srgbClr val="000000"/>
                </a:solidFill>
                <a:latin typeface="Verdana"/>
              </a:rPr>
              <a:t>Analisar</a:t>
            </a:r>
            <a:r>
              <a:rPr sz="1220" b="0" i="0" dirty="0">
                <a:solidFill>
                  <a:srgbClr val="000000"/>
                </a:solidFill>
                <a:latin typeface="Verdana"/>
              </a:rPr>
              <a:t> a </a:t>
            </a:r>
            <a:r>
              <a:rPr sz="1220" b="0" i="0" dirty="0" err="1">
                <a:solidFill>
                  <a:srgbClr val="000000"/>
                </a:solidFill>
                <a:latin typeface="Verdana"/>
              </a:rPr>
              <a:t>falta</a:t>
            </a:r>
            <a:r>
              <a:rPr sz="1220" b="0" i="0" dirty="0">
                <a:solidFill>
                  <a:srgbClr val="000000"/>
                </a:solidFill>
                <a:latin typeface="Verdana"/>
              </a:rPr>
              <a:t> de </a:t>
            </a:r>
            <a:r>
              <a:rPr sz="1220" b="0" i="0" dirty="0" err="1">
                <a:solidFill>
                  <a:srgbClr val="000000"/>
                </a:solidFill>
                <a:latin typeface="Verdana"/>
              </a:rPr>
              <a:t>preparo</a:t>
            </a:r>
            <a:r>
              <a:rPr sz="1220" b="0" i="0" dirty="0">
                <a:solidFill>
                  <a:srgbClr val="000000"/>
                </a:solidFill>
                <a:latin typeface="Verdana"/>
              </a:rPr>
              <a:t> do </a:t>
            </a:r>
            <a:r>
              <a:rPr sz="1220" b="0" i="0" dirty="0" err="1">
                <a:solidFill>
                  <a:srgbClr val="000000"/>
                </a:solidFill>
                <a:latin typeface="Verdana"/>
              </a:rPr>
              <a:t>Brasil</a:t>
            </a:r>
            <a:r>
              <a:rPr sz="1220" b="0" i="0" dirty="0">
                <a:solidFill>
                  <a:srgbClr val="000000"/>
                </a:solidFill>
                <a:latin typeface="Verdana"/>
              </a:rPr>
              <a:t> para </a:t>
            </a:r>
            <a:r>
              <a:rPr sz="1220" b="0" i="0" dirty="0" err="1">
                <a:solidFill>
                  <a:srgbClr val="000000"/>
                </a:solidFill>
                <a:latin typeface="Verdana"/>
              </a:rPr>
              <a:t>receber</a:t>
            </a:r>
            <a:r>
              <a:rPr sz="1220" b="0" i="0" dirty="0">
                <a:solidFill>
                  <a:srgbClr val="000000"/>
                </a:solidFill>
                <a:latin typeface="Verdana"/>
              </a:rPr>
              <a:t> data centers e </a:t>
            </a:r>
            <a:r>
              <a:rPr sz="1220" b="0" i="0" dirty="0" err="1">
                <a:solidFill>
                  <a:srgbClr val="000000"/>
                </a:solidFill>
                <a:latin typeface="Verdana"/>
              </a:rPr>
              <a:t>os</a:t>
            </a:r>
            <a:r>
              <a:rPr sz="122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220" b="0" i="0" dirty="0" err="1">
                <a:solidFill>
                  <a:srgbClr val="000000"/>
                </a:solidFill>
                <a:latin typeface="Verdana"/>
              </a:rPr>
              <a:t>impactos</a:t>
            </a:r>
            <a:r>
              <a:rPr sz="122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220" b="0" i="0" dirty="0" err="1">
                <a:solidFill>
                  <a:srgbClr val="000000"/>
                </a:solidFill>
                <a:latin typeface="Verdana"/>
              </a:rPr>
              <a:t>socioambientais</a:t>
            </a:r>
            <a:r>
              <a:rPr sz="1220" b="0" i="0" dirty="0">
                <a:solidFill>
                  <a:srgbClr val="000000"/>
                </a:solidFill>
                <a:latin typeface="Verdana"/>
              </a:rPr>
              <a:t> e </a:t>
            </a:r>
            <a:r>
              <a:rPr sz="1220" b="0" i="0" dirty="0" err="1">
                <a:solidFill>
                  <a:srgbClr val="000000"/>
                </a:solidFill>
                <a:latin typeface="Verdana"/>
              </a:rPr>
              <a:t>geopolíticos</a:t>
            </a:r>
            <a:r>
              <a:rPr sz="122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220" b="0" i="0" dirty="0" err="1">
                <a:solidFill>
                  <a:srgbClr val="000000"/>
                </a:solidFill>
                <a:latin typeface="Verdana"/>
              </a:rPr>
              <a:t>associados</a:t>
            </a:r>
            <a:r>
              <a:rPr sz="1220" b="0" i="0" dirty="0">
                <a:solidFill>
                  <a:srgbClr val="000000"/>
                </a:solidFill>
                <a:latin typeface="Verdana"/>
              </a:rPr>
              <a:t>.</a:t>
            </a:r>
          </a:p>
          <a:p>
            <a:pPr>
              <a:spcAft>
                <a:spcPts val="300"/>
              </a:spcAft>
              <a:buNone/>
            </a:pPr>
            <a:r>
              <a:rPr sz="1350" b="1" i="0" dirty="0">
                <a:solidFill>
                  <a:srgbClr val="000000"/>
                </a:solidFill>
                <a:latin typeface="Verdana"/>
              </a:rPr>
              <a:t>OBJETIVOS ESPECÍFICOS</a:t>
            </a:r>
          </a:p>
          <a:p>
            <a:pPr>
              <a:spcAft>
                <a:spcPts val="200"/>
              </a:spcAft>
              <a:buFont typeface="Arial"/>
              <a:buChar char="✓"/>
            </a:pPr>
            <a:r>
              <a:rPr sz="1210" b="0" i="0" dirty="0" err="1">
                <a:solidFill>
                  <a:srgbClr val="000000"/>
                </a:solidFill>
                <a:latin typeface="Verdana"/>
              </a:rPr>
              <a:t>Comparar</a:t>
            </a:r>
            <a:r>
              <a:rPr sz="121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210" b="0" i="0" dirty="0" err="1">
                <a:solidFill>
                  <a:srgbClr val="000000"/>
                </a:solidFill>
                <a:latin typeface="Verdana"/>
              </a:rPr>
              <a:t>os</a:t>
            </a:r>
            <a:r>
              <a:rPr sz="121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210" b="0" i="0" dirty="0" err="1">
                <a:solidFill>
                  <a:srgbClr val="000000"/>
                </a:solidFill>
                <a:latin typeface="Verdana"/>
              </a:rPr>
              <a:t>impactos</a:t>
            </a:r>
            <a:r>
              <a:rPr sz="121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210" b="0" i="0" dirty="0" err="1">
                <a:solidFill>
                  <a:srgbClr val="000000"/>
                </a:solidFill>
                <a:latin typeface="Verdana"/>
              </a:rPr>
              <a:t>hídricos</a:t>
            </a:r>
            <a:r>
              <a:rPr sz="1210" b="0" i="0" dirty="0">
                <a:solidFill>
                  <a:srgbClr val="000000"/>
                </a:solidFill>
                <a:latin typeface="Verdana"/>
              </a:rPr>
              <a:t> e </a:t>
            </a:r>
            <a:r>
              <a:rPr sz="1210" b="0" i="0" dirty="0" err="1">
                <a:solidFill>
                  <a:srgbClr val="000000"/>
                </a:solidFill>
                <a:latin typeface="Verdana"/>
              </a:rPr>
              <a:t>energéticos</a:t>
            </a:r>
            <a:r>
              <a:rPr sz="1210" b="0" i="0" dirty="0">
                <a:solidFill>
                  <a:srgbClr val="000000"/>
                </a:solidFill>
                <a:latin typeface="Verdana"/>
              </a:rPr>
              <a:t> dos </a:t>
            </a:r>
            <a:r>
              <a:rPr sz="1210" b="0" i="0" dirty="0" err="1">
                <a:solidFill>
                  <a:srgbClr val="000000"/>
                </a:solidFill>
                <a:latin typeface="Verdana"/>
              </a:rPr>
              <a:t>sistemas</a:t>
            </a:r>
            <a:r>
              <a:rPr sz="1210" b="0" i="0" dirty="0">
                <a:solidFill>
                  <a:srgbClr val="000000"/>
                </a:solidFill>
                <a:latin typeface="Verdana"/>
              </a:rPr>
              <a:t> de </a:t>
            </a:r>
            <a:r>
              <a:rPr sz="1210" b="0" i="0" dirty="0" err="1">
                <a:solidFill>
                  <a:srgbClr val="000000"/>
                </a:solidFill>
                <a:latin typeface="Verdana"/>
              </a:rPr>
              <a:t>resfriamento</a:t>
            </a:r>
            <a:r>
              <a:rPr sz="1210" b="0" i="0" dirty="0">
                <a:solidFill>
                  <a:srgbClr val="000000"/>
                </a:solidFill>
                <a:latin typeface="Verdana"/>
              </a:rPr>
              <a:t>.</a:t>
            </a:r>
          </a:p>
          <a:p>
            <a:pPr>
              <a:spcAft>
                <a:spcPts val="200"/>
              </a:spcAft>
              <a:buFont typeface="Arial"/>
              <a:buChar char="✓"/>
            </a:pPr>
            <a:r>
              <a:rPr sz="1210" b="0" i="0" dirty="0" err="1">
                <a:solidFill>
                  <a:srgbClr val="000000"/>
                </a:solidFill>
                <a:latin typeface="Verdana"/>
              </a:rPr>
              <a:t>Identificar</a:t>
            </a:r>
            <a:r>
              <a:rPr sz="121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210" b="0" i="0" dirty="0" err="1">
                <a:solidFill>
                  <a:srgbClr val="000000"/>
                </a:solidFill>
                <a:latin typeface="Verdana"/>
              </a:rPr>
              <a:t>fragilidades</a:t>
            </a:r>
            <a:r>
              <a:rPr sz="121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210" b="0" i="0" dirty="0" err="1">
                <a:solidFill>
                  <a:srgbClr val="000000"/>
                </a:solidFill>
                <a:latin typeface="Verdana"/>
              </a:rPr>
              <a:t>na</a:t>
            </a:r>
            <a:r>
              <a:rPr sz="121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210" b="0" i="0" dirty="0" err="1">
                <a:solidFill>
                  <a:srgbClr val="000000"/>
                </a:solidFill>
                <a:latin typeface="Verdana"/>
              </a:rPr>
              <a:t>regulamentação</a:t>
            </a:r>
            <a:r>
              <a:rPr sz="121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210" b="0" i="0" dirty="0" err="1">
                <a:solidFill>
                  <a:srgbClr val="000000"/>
                </a:solidFill>
                <a:latin typeface="Verdana"/>
              </a:rPr>
              <a:t>ambiental</a:t>
            </a:r>
            <a:r>
              <a:rPr sz="121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210" b="0" i="0" dirty="0" err="1">
                <a:solidFill>
                  <a:srgbClr val="000000"/>
                </a:solidFill>
                <a:latin typeface="Verdana"/>
              </a:rPr>
              <a:t>brasileira</a:t>
            </a:r>
            <a:r>
              <a:rPr sz="1210" b="0" i="0" dirty="0">
                <a:solidFill>
                  <a:srgbClr val="000000"/>
                </a:solidFill>
                <a:latin typeface="Verdana"/>
              </a:rPr>
              <a:t>.</a:t>
            </a:r>
          </a:p>
          <a:p>
            <a:pPr>
              <a:spcAft>
                <a:spcPts val="200"/>
              </a:spcAft>
              <a:buFont typeface="Arial"/>
              <a:buChar char="✓"/>
            </a:pPr>
            <a:r>
              <a:rPr sz="1210" b="0" i="0" dirty="0" err="1">
                <a:solidFill>
                  <a:srgbClr val="000000"/>
                </a:solidFill>
                <a:latin typeface="Verdana"/>
              </a:rPr>
              <a:t>Discutir</a:t>
            </a:r>
            <a:r>
              <a:rPr sz="121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210" b="0" i="0" dirty="0" err="1">
                <a:solidFill>
                  <a:srgbClr val="000000"/>
                </a:solidFill>
                <a:latin typeface="Verdana"/>
              </a:rPr>
              <a:t>riscos</a:t>
            </a:r>
            <a:r>
              <a:rPr sz="1210" b="0" i="0" dirty="0">
                <a:solidFill>
                  <a:srgbClr val="000000"/>
                </a:solidFill>
                <a:latin typeface="Verdana"/>
              </a:rPr>
              <a:t> de </a:t>
            </a:r>
            <a:r>
              <a:rPr sz="1210" b="0" i="0" dirty="0" err="1">
                <a:solidFill>
                  <a:srgbClr val="000000"/>
                </a:solidFill>
                <a:latin typeface="Verdana"/>
              </a:rPr>
              <a:t>ecocídio</a:t>
            </a:r>
            <a:r>
              <a:rPr sz="1210" b="0" i="0" dirty="0">
                <a:solidFill>
                  <a:srgbClr val="000000"/>
                </a:solidFill>
                <a:latin typeface="Verdana"/>
              </a:rPr>
              <a:t> e </a:t>
            </a:r>
            <a:r>
              <a:rPr sz="1210" b="0" i="0" dirty="0" err="1">
                <a:solidFill>
                  <a:srgbClr val="000000"/>
                </a:solidFill>
                <a:latin typeface="Verdana"/>
              </a:rPr>
              <a:t>competição</a:t>
            </a:r>
            <a:r>
              <a:rPr sz="1210" b="0" i="0" dirty="0">
                <a:solidFill>
                  <a:srgbClr val="000000"/>
                </a:solidFill>
                <a:latin typeface="Verdana"/>
              </a:rPr>
              <a:t> por </a:t>
            </a:r>
            <a:r>
              <a:rPr sz="1210" b="0" i="0" dirty="0" err="1">
                <a:solidFill>
                  <a:srgbClr val="000000"/>
                </a:solidFill>
                <a:latin typeface="Verdana"/>
              </a:rPr>
              <a:t>recursos</a:t>
            </a:r>
            <a:r>
              <a:rPr sz="121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210" b="0" i="0" dirty="0" err="1">
                <a:solidFill>
                  <a:srgbClr val="000000"/>
                </a:solidFill>
                <a:latin typeface="Verdana"/>
              </a:rPr>
              <a:t>naturais</a:t>
            </a:r>
            <a:r>
              <a:rPr sz="1210" b="0" i="0" dirty="0">
                <a:solidFill>
                  <a:srgbClr val="000000"/>
                </a:solidFill>
                <a:latin typeface="Verdana"/>
              </a:rPr>
              <a:t>.</a:t>
            </a:r>
          </a:p>
          <a:p>
            <a:pPr>
              <a:spcAft>
                <a:spcPts val="200"/>
              </a:spcAft>
              <a:buFont typeface="Arial"/>
              <a:buChar char="✓"/>
            </a:pPr>
            <a:r>
              <a:rPr sz="1210" b="0" i="0" dirty="0" err="1">
                <a:solidFill>
                  <a:srgbClr val="000000"/>
                </a:solidFill>
                <a:latin typeface="Verdana"/>
              </a:rPr>
              <a:t>Avaliar</a:t>
            </a:r>
            <a:r>
              <a:rPr sz="121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210" b="0" i="0" dirty="0" err="1">
                <a:solidFill>
                  <a:srgbClr val="000000"/>
                </a:solidFill>
                <a:latin typeface="Verdana"/>
              </a:rPr>
              <a:t>possíveis</a:t>
            </a:r>
            <a:r>
              <a:rPr sz="121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210" b="0" i="0" dirty="0" err="1">
                <a:solidFill>
                  <a:srgbClr val="000000"/>
                </a:solidFill>
                <a:latin typeface="Verdana"/>
              </a:rPr>
              <a:t>reflexos</a:t>
            </a:r>
            <a:r>
              <a:rPr sz="1210" b="0" i="0" dirty="0">
                <a:solidFill>
                  <a:srgbClr val="000000"/>
                </a:solidFill>
                <a:latin typeface="Verdana"/>
              </a:rPr>
              <a:t> da </a:t>
            </a:r>
            <a:r>
              <a:rPr sz="1210" b="0" i="0" dirty="0" err="1">
                <a:solidFill>
                  <a:srgbClr val="000000"/>
                </a:solidFill>
                <a:latin typeface="Verdana"/>
              </a:rPr>
              <a:t>expansão</a:t>
            </a:r>
            <a:r>
              <a:rPr sz="1210" b="0" i="0" dirty="0">
                <a:solidFill>
                  <a:srgbClr val="000000"/>
                </a:solidFill>
                <a:latin typeface="Verdana"/>
              </a:rPr>
              <a:t> dos data centers </a:t>
            </a:r>
            <a:r>
              <a:rPr sz="1210" b="0" i="0" dirty="0" err="1">
                <a:solidFill>
                  <a:srgbClr val="000000"/>
                </a:solidFill>
                <a:latin typeface="Verdana"/>
              </a:rPr>
              <a:t>na</a:t>
            </a:r>
            <a:r>
              <a:rPr sz="121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210" b="0" i="0" dirty="0" err="1">
                <a:solidFill>
                  <a:srgbClr val="000000"/>
                </a:solidFill>
                <a:latin typeface="Verdana"/>
              </a:rPr>
              <a:t>soberania</a:t>
            </a:r>
            <a:r>
              <a:rPr sz="1210" b="0" i="0" dirty="0">
                <a:solidFill>
                  <a:srgbClr val="000000"/>
                </a:solidFill>
                <a:latin typeface="Verdana"/>
              </a:rPr>
              <a:t> digital.</a:t>
            </a: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7" y="777875"/>
            <a:ext cx="52832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103438"/>
            <a:ext cx="5953921" cy="1090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Trata-se de uma revisão narrativa da literatura, com abordagem crítica e qualitativa. A busca foi realizada nas bases Google Acadêmico, Revista Brasileira de Direito Constitucional, Portal </a:t>
            </a:r>
            <a:r>
              <a:rPr lang="pt-BR" sz="1400" i="1" dirty="0" err="1">
                <a:latin typeface="Verdana" pitchFamily="34" charset="0"/>
                <a:ea typeface="Verdana" pitchFamily="34" charset="0"/>
              </a:rPr>
              <a:t>Proquest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e Portal de Periódicos da UERN (Universidade Estadual do Rio Grande do Norte), com os descritores "</a:t>
            </a:r>
            <a:r>
              <a:rPr lang="pt-BR" sz="1400" i="1" dirty="0">
                <a:latin typeface="Verdana" pitchFamily="34" charset="0"/>
                <a:ea typeface="Verdana" pitchFamily="34" charset="0"/>
              </a:rPr>
              <a:t>data centers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", "impactos socioambientais", "meio ambiente", "Brasil" e "inteligência artificial". Foram incluídos artigos científicos nos últimos cinco anos, em português, que tratassem de impactos socioambientais de </a:t>
            </a:r>
            <a:r>
              <a:rPr lang="pt-BR" sz="1400" i="1" dirty="0">
                <a:latin typeface="Verdana" pitchFamily="34" charset="0"/>
                <a:ea typeface="Verdana" pitchFamily="34" charset="0"/>
              </a:rPr>
              <a:t>data centers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. A triagem ocorreu em duas etapas, leitura de títulos e resumos e depois leitura completa, e a análise foi comparativa, agrupando os achados em três eixos temáticos.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800" dirty="0">
              <a:latin typeface="Verdana" pitchFamily="34" charset="0"/>
              <a:ea typeface="Verdana" pitchFamily="34" charset="0"/>
            </a:endParaRPr>
          </a:p>
          <a:p>
            <a:pPr algn="l">
              <a:buNone/>
            </a:pPr>
            <a:endParaRPr lang="pt-BR" sz="180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1DEED65-4293-70B7-FE9D-9EBEBFE6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spcAft>
                <a:spcPts val="500"/>
              </a:spcAft>
              <a:buFont typeface="Arial"/>
              <a:buChar char="✓"/>
            </a:pPr>
            <a:r>
              <a:rPr sz="1170" b="0" i="0" dirty="0" err="1">
                <a:solidFill>
                  <a:srgbClr val="000000"/>
                </a:solidFill>
                <a:latin typeface="Verdana"/>
              </a:rPr>
              <a:t>Resfriamento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aberto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x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fechado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: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circuito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aberto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usa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mais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água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; o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fechado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reduz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consumo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hídrico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, mas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exige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mais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energia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— BBC (2025).</a:t>
            </a:r>
          </a:p>
          <a:p>
            <a:pPr>
              <a:spcAft>
                <a:spcPts val="500"/>
              </a:spcAft>
              <a:buFont typeface="Arial"/>
              <a:buChar char="✓"/>
            </a:pPr>
            <a:r>
              <a:rPr sz="1170" b="0" i="0" dirty="0" err="1">
                <a:solidFill>
                  <a:srgbClr val="000000"/>
                </a:solidFill>
                <a:latin typeface="Verdana"/>
              </a:rPr>
              <a:t>Pressão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sobre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o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abastecimento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local: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captação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pela rede municipal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pode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levar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o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fornecimento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de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água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ao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limite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— BBC (2025).</a:t>
            </a:r>
          </a:p>
          <a:p>
            <a:pPr>
              <a:spcAft>
                <a:spcPts val="500"/>
              </a:spcAft>
              <a:buFont typeface="Arial"/>
              <a:buChar char="✓"/>
            </a:pPr>
            <a:r>
              <a:rPr sz="1170" b="0" i="0" dirty="0" err="1">
                <a:solidFill>
                  <a:srgbClr val="000000"/>
                </a:solidFill>
                <a:latin typeface="Verdana"/>
              </a:rPr>
              <a:t>Fragilidade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regulatória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: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expansão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dos data centers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exige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regras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ambientais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específicas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e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maior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transparência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— Nassar e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Moraes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(2026).</a:t>
            </a:r>
          </a:p>
          <a:p>
            <a:pPr>
              <a:spcAft>
                <a:spcPts val="500"/>
              </a:spcAft>
              <a:buFont typeface="Arial"/>
              <a:buChar char="✓"/>
            </a:pPr>
            <a:r>
              <a:rPr sz="1170" b="0" i="0" dirty="0" err="1">
                <a:solidFill>
                  <a:srgbClr val="000000"/>
                </a:solidFill>
                <a:latin typeface="Verdana"/>
              </a:rPr>
              <a:t>Ecocídio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e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justiça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ambiental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: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grandes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empreendimentos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podem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intensificar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disputa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por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água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e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alterar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ecossistemas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—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Brochado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Neto (2025).</a:t>
            </a:r>
          </a:p>
          <a:p>
            <a:pPr>
              <a:spcAft>
                <a:spcPts val="500"/>
              </a:spcAft>
              <a:buFont typeface="Arial"/>
              <a:buChar char="✓"/>
            </a:pPr>
            <a:r>
              <a:rPr sz="1170" b="0" i="0" dirty="0">
                <a:solidFill>
                  <a:srgbClr val="000000"/>
                </a:solidFill>
                <a:latin typeface="Verdana"/>
              </a:rPr>
              <a:t>Caso do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Ceará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: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estimativa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de 19.700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litros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/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dia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e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autorização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de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uso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de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até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144 mil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litros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de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água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/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dia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— </a:t>
            </a:r>
            <a:r>
              <a:rPr sz="1170" b="0" i="0" dirty="0" err="1">
                <a:solidFill>
                  <a:srgbClr val="000000"/>
                </a:solidFill>
                <a:latin typeface="Verdana"/>
              </a:rPr>
              <a:t>Brochado</a:t>
            </a:r>
            <a:r>
              <a:rPr sz="1170" b="0" i="0" dirty="0">
                <a:solidFill>
                  <a:srgbClr val="000000"/>
                </a:solidFill>
                <a:latin typeface="Verdana"/>
              </a:rPr>
              <a:t> Neto (2025).</a:t>
            </a:r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spcAft>
                <a:spcPts val="500"/>
              </a:spcAft>
              <a:buFont typeface="Arial"/>
              <a:buChar char="✓"/>
            </a:pPr>
            <a:r>
              <a:rPr sz="1170" b="0" i="0">
                <a:solidFill>
                  <a:srgbClr val="000000"/>
                </a:solidFill>
                <a:latin typeface="Verdana"/>
              </a:rPr>
              <a:t>Soberania digital: empresas transnacionais podem influenciar decisões nacionais sobre infraestrutura e recursos — Furtado e Cunha (2024).</a:t>
            </a:r>
          </a:p>
          <a:p>
            <a:pPr>
              <a:spcAft>
                <a:spcPts val="500"/>
              </a:spcAft>
              <a:buFont typeface="Arial"/>
              <a:buChar char="✓"/>
            </a:pPr>
            <a:r>
              <a:rPr sz="1170" b="0" i="0">
                <a:solidFill>
                  <a:srgbClr val="000000"/>
                </a:solidFill>
                <a:latin typeface="Verdana"/>
              </a:rPr>
              <a:t>Eixo São Paulo-Campinas: demanda dos data centers pode triplicar até 2030, enquanto a distribuição de energia cresce 20% — Furtado e Cunha (2024).</a:t>
            </a:r>
          </a:p>
          <a:p>
            <a:pPr>
              <a:spcAft>
                <a:spcPts val="500"/>
              </a:spcAft>
              <a:buFont typeface="Arial"/>
              <a:buChar char="✓"/>
            </a:pPr>
            <a:r>
              <a:rPr sz="1170" b="0" i="0">
                <a:solidFill>
                  <a:srgbClr val="000000"/>
                </a:solidFill>
                <a:latin typeface="Verdana"/>
              </a:rPr>
              <a:t>Escassez hídrica: Vinhedo, cidade inserida na rota de expansão do setor, adotou racionamento de água em 2024 — Furtado e Cunha (2024).</a:t>
            </a:r>
          </a:p>
          <a:p>
            <a:pPr>
              <a:spcAft>
                <a:spcPts val="500"/>
              </a:spcAft>
              <a:buFont typeface="Arial"/>
              <a:buChar char="✓"/>
            </a:pPr>
            <a:r>
              <a:rPr sz="1170" b="0" i="0">
                <a:solidFill>
                  <a:srgbClr val="000000"/>
                </a:solidFill>
                <a:latin typeface="Verdana"/>
              </a:rPr>
              <a:t>Impactos corporativos: emissões da Google aumentaram 48% e o consumo de água da Microsoft chegou a 7 milhões de m³ — dados citados no estudo.</a:t>
            </a:r>
          </a:p>
          <a:p>
            <a:pPr>
              <a:spcAft>
                <a:spcPts val="500"/>
              </a:spcAft>
              <a:buFont typeface="Arial"/>
              <a:buChar char="✓"/>
            </a:pPr>
            <a:r>
              <a:rPr sz="1170" b="0" i="0">
                <a:solidFill>
                  <a:srgbClr val="000000"/>
                </a:solidFill>
                <a:latin typeface="Verdana"/>
              </a:rPr>
              <a:t>Legislação e poder econômico: em Limeira, o Plano Diretor foi alterado após impedimento relacionado à venda de terras a estrangeiros — Furtado e Cunha (2024).</a:t>
            </a: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208212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spcAft>
                <a:spcPts val="700"/>
              </a:spcAft>
              <a:buFont typeface="Arial"/>
              <a:buChar char="✓"/>
            </a:pPr>
            <a:r>
              <a:rPr sz="1240" b="0" i="0">
                <a:solidFill>
                  <a:srgbClr val="000000"/>
                </a:solidFill>
                <a:latin typeface="Verdana"/>
              </a:rPr>
              <a:t>A expansão irrestrita dos data centers pode agravar impactos socioambientais.</a:t>
            </a:r>
          </a:p>
          <a:p>
            <a:pPr>
              <a:spcAft>
                <a:spcPts val="700"/>
              </a:spcAft>
              <a:buFont typeface="Arial"/>
              <a:buChar char="✓"/>
            </a:pPr>
            <a:r>
              <a:rPr sz="1240" b="0" i="0">
                <a:solidFill>
                  <a:srgbClr val="000000"/>
                </a:solidFill>
                <a:latin typeface="Verdana"/>
              </a:rPr>
              <a:t>Disponibilidade de água e energia deve ser considerada antes da escolha do local de instalação.</a:t>
            </a:r>
          </a:p>
          <a:p>
            <a:pPr>
              <a:spcAft>
                <a:spcPts val="700"/>
              </a:spcAft>
              <a:buFont typeface="Arial"/>
              <a:buChar char="✓"/>
            </a:pPr>
            <a:r>
              <a:rPr sz="1240" b="0" i="0">
                <a:solidFill>
                  <a:srgbClr val="000000"/>
                </a:solidFill>
                <a:latin typeface="Verdana"/>
              </a:rPr>
              <a:t>Sistemas de resfriamento envolvem uma troca entre consumo hídrico e consumo energético.</a:t>
            </a:r>
          </a:p>
          <a:p>
            <a:pPr>
              <a:spcAft>
                <a:spcPts val="700"/>
              </a:spcAft>
              <a:buFont typeface="Arial"/>
              <a:buChar char="✓"/>
            </a:pPr>
            <a:r>
              <a:rPr sz="1240" b="0" i="0">
                <a:solidFill>
                  <a:srgbClr val="000000"/>
                </a:solidFill>
                <a:latin typeface="Verdana"/>
              </a:rPr>
              <a:t>O Brasil necessita de regulamentação específica, transparência e estudos prévios mais detalhados.</a:t>
            </a:r>
          </a:p>
          <a:p>
            <a:pPr>
              <a:spcAft>
                <a:spcPts val="700"/>
              </a:spcAft>
              <a:buFont typeface="Arial"/>
              <a:buChar char="✓"/>
            </a:pPr>
            <a:r>
              <a:rPr sz="1240" b="0" i="0">
                <a:solidFill>
                  <a:srgbClr val="000000"/>
                </a:solidFill>
                <a:latin typeface="Verdana"/>
              </a:rPr>
              <a:t>A soberania digital deve ser analisada junto aos riscos ambientais, sociais e econômicos.</a:t>
            </a: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" y="2146301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Aft>
                <a:spcPts val="800"/>
              </a:spcAft>
              <a:buFont typeface="Arial"/>
              <a:buChar char="✓"/>
            </a:pPr>
            <a:r>
              <a:rPr sz="1040" b="0" i="0">
                <a:solidFill>
                  <a:srgbClr val="000000"/>
                </a:solidFill>
                <a:latin typeface="Verdana"/>
              </a:rPr>
              <a:t>FURTADO, Renato Guimarães; CUNHA, Simone Evangelista. Inteligência artificial, data centers e colonialismo digital: impactos socioambientais e geopolíticos a partir do Sul Global. Liinc em Revista, Rio de Janeiro, v. 20, n. 2, e7272, nov. 2024.</a:t>
            </a:r>
            <a:endParaRPr lang="pt-BR" altLang="pt-BR" sz="1400" dirty="0">
              <a:latin typeface="Verdana" pitchFamily="34" charset="0"/>
              <a:ea typeface="Verdana" pitchFamily="34" charset="0"/>
            </a:endParaRPr>
          </a:p>
          <a:p>
            <a:pPr>
              <a:spcAft>
                <a:spcPts val="800"/>
              </a:spcAft>
              <a:buFont typeface="Arial"/>
              <a:buChar char="✓"/>
            </a:pPr>
            <a:r>
              <a:rPr sz="1040" b="0" i="0">
                <a:solidFill>
                  <a:srgbClr val="000000"/>
                </a:solidFill>
                <a:latin typeface="Verdana"/>
              </a:rPr>
              <a:t>BROCHADO NETO, Djalma Alvarez. Data centers no Ceará: as fronteiras entre a revolução tecnológica e o “risco ecocídio”. Revista Juridicidade Constitucional e Democracia, Mossoró, v. 3, n. 5, p. 25-58, jun./dez. 2025.</a:t>
            </a:r>
          </a:p>
          <a:p>
            <a:pPr>
              <a:spcAft>
                <a:spcPts val="800"/>
              </a:spcAft>
              <a:buFont typeface="Arial"/>
              <a:buChar char="✓"/>
            </a:pPr>
            <a:r>
              <a:rPr sz="1040" b="0" i="0">
                <a:solidFill>
                  <a:srgbClr val="000000"/>
                </a:solidFill>
                <a:latin typeface="Verdana"/>
              </a:rPr>
              <a:t>NASSAR, Bruno Nazih Nehme; MORAES, Alexandre Rocha Almeida de. Regulação de data centers no Brasil: entre o direito ao desenvolvimento e a proteção ambiental. Revista Brasileira de Direito Constitucional, São Paulo, v. 26, e026023, jan./dez. 2026.</a:t>
            </a: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471738"/>
            <a:ext cx="67056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  <a:buNone/>
            </a:pPr>
            <a:r>
              <a:rPr sz="2800" i="1">
                <a:solidFill>
                  <a:srgbClr val="FFFFFF"/>
                </a:solidFill>
                <a:latin typeface="Verdana"/>
              </a:rPr>
              <a:t>Agradecemos a atenção!</a:t>
            </a:r>
            <a:endParaRPr lang="en-US" altLang="pt-BR" sz="3200" i="1" dirty="0">
              <a:solidFill>
                <a:schemeClr val="bg1"/>
              </a:solidFill>
              <a:latin typeface="Verdana" panose="020B0604030504040204" pitchFamily="34" charset="0"/>
            </a:endParaRPr>
          </a:p>
          <a:p>
            <a:pPr algn="ctr">
              <a:spcBef>
                <a:spcPts val="1200"/>
              </a:spcBef>
              <a:buNone/>
            </a:pPr>
            <a:r>
              <a:rPr sz="2400" i="1">
                <a:solidFill>
                  <a:srgbClr val="FFFFFF"/>
                </a:solidFill>
                <a:latin typeface="Verdana"/>
              </a:rPr>
              <a:t>Perguntas?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889</TotalTime>
  <Words>807</Words>
  <Application>Microsoft Office PowerPoint</Application>
  <PresentationFormat>Widescreen</PresentationFormat>
  <Paragraphs>53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Verdana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JULIO</cp:lastModifiedBy>
  <cp:revision>21</cp:revision>
  <dcterms:created xsi:type="dcterms:W3CDTF">2021-05-14T17:32:15Z</dcterms:created>
  <dcterms:modified xsi:type="dcterms:W3CDTF">2026-10-06T23:58:02Z</dcterms:modified>
</cp:coreProperties>
</file>